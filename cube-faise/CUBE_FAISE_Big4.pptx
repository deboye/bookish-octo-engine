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572000" cy="6858000"/>
          </a:xfrm>
          <a:prstGeom prst="rect">
            <a:avLst/>
          </a:prstGeom>
          <a:solidFill>
            <a:srgbClr val="002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0" y="0"/>
            <a:ext cx="7619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2286000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>
                <a:solidFill>
                  <a:srgbClr val="C8A956"/>
                </a:solidFill>
                <a:latin typeface="Calibri"/>
              </a:rPr>
              <a:t>CUBE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10896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>
                <a:solidFill>
                  <a:srgbClr val="FFFFFF"/>
                </a:solidFill>
                <a:latin typeface="Calibri"/>
              </a:rPr>
              <a:t>x  FAISE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59436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6C757D"/>
                </a:solidFill>
                <a:latin typeface="Calibri"/>
              </a:rPr>
              <a:t>CONFIDENTIEL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0" y="1828800"/>
            <a:ext cx="5943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002855"/>
                </a:solidFill>
                <a:latin typeface="Calibri"/>
              </a:rPr>
              <a:t>CUBE x FAISE</a:t>
            </a:r>
          </a:p>
          <a:p>
            <a:pPr algn="l"/>
            <a:r>
              <a:rPr sz="400"/>
              <a:t/>
            </a:r>
          </a:p>
          <a:p>
            <a:pPr algn="l"/>
            <a:r>
              <a:rPr sz="1600" b="0">
                <a:solidFill>
                  <a:srgbClr val="C8A956"/>
                </a:solidFill>
                <a:latin typeface="Calibri"/>
              </a:rPr>
              <a:t>Transformer l'epargne de la diaspora</a:t>
            </a:r>
          </a:p>
          <a:p>
            <a:pPr algn="l"/>
            <a:r>
              <a:rPr sz="1600" b="0">
                <a:solidFill>
                  <a:srgbClr val="C8A956"/>
                </a:solidFill>
                <a:latin typeface="Calibri"/>
              </a:rPr>
              <a:t>en moteur de croissance des PME senegalaises</a:t>
            </a:r>
          </a:p>
          <a:p>
            <a:pPr algn="l"/>
            <a:r>
              <a:rPr sz="400"/>
              <a:t/>
            </a:r>
          </a:p>
          <a:p>
            <a:pPr algn="l"/>
            <a:r>
              <a:rPr sz="1400" b="0">
                <a:solidFill>
                  <a:srgbClr val="6C757D"/>
                </a:solidFill>
                <a:latin typeface="Calibri"/>
              </a:rPr>
              <a:t>Proposition de partenariat strategique</a:t>
            </a:r>
          </a:p>
          <a:p>
            <a:pPr algn="l"/>
            <a:r>
              <a:rPr sz="400"/>
              <a:t/>
            </a:r>
          </a:p>
          <a:p>
            <a:pPr algn="l"/>
            <a:r>
              <a:rPr sz="1100" b="0">
                <a:solidFill>
                  <a:srgbClr val="6C757D"/>
                </a:solidFill>
                <a:latin typeface="Calibri"/>
              </a:rPr>
              <a:t>Cabinet Carree  |  ccarree.com  |  Avril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2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0"/>
            <a:ext cx="54864" cy="6035040"/>
          </a:xfrm>
          <a:prstGeom prst="rect">
            <a:avLst/>
          </a:prstGeom>
          <a:solidFill>
            <a:srgbClr val="C8A9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C8A956"/>
                </a:solidFill>
                <a:latin typeface="Calibri"/>
              </a:rPr>
              <a:t>SOMMAIRE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109728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02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601968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C8A956"/>
                </a:solidFill>
                <a:latin typeface="Calibri"/>
              </a:rPr>
              <a:t>CONFIDENTIEL  |  Cabinet Carree x CUBE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002855"/>
                </a:solidFill>
                <a:latin typeface="Calibri"/>
              </a:rPr>
              <a:t>Sommaire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645920"/>
            <a:ext cx="9144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002855"/>
                </a:solidFill>
                <a:latin typeface="Calibri"/>
              </a:rPr>
              <a:t>01.  Cabinet Carree — Qui sommes-nous</a:t>
            </a:r>
          </a:p>
          <a:p>
            <a:pPr algn="l"/>
            <a:r>
              <a:rPr sz="400"/>
              <a:t/>
            </a:r>
          </a:p>
          <a:p>
            <a:pPr algn="l"/>
            <a:r>
              <a:rPr sz="1600" b="0">
                <a:solidFill>
                  <a:srgbClr val="002855"/>
                </a:solidFill>
                <a:latin typeface="Calibri"/>
              </a:rPr>
              <a:t>02.  Le Constat — Un potentiel bloque</a:t>
            </a:r>
          </a:p>
          <a:p>
            <a:pPr algn="l"/>
            <a:r>
              <a:rPr sz="400"/>
              <a:t/>
            </a:r>
          </a:p>
          <a:p>
            <a:pPr algn="l"/>
            <a:r>
              <a:rPr sz="1600" b="0">
                <a:solidFill>
                  <a:srgbClr val="002855"/>
                </a:solidFill>
                <a:latin typeface="Calibri"/>
              </a:rPr>
              <a:t>03.  Cas Concrets PME</a:t>
            </a:r>
          </a:p>
          <a:p>
            <a:pPr algn="l"/>
            <a:r>
              <a:rPr sz="400"/>
              <a:t/>
            </a:r>
          </a:p>
          <a:p>
            <a:pPr algn="l"/>
            <a:r>
              <a:rPr sz="1600" b="0">
                <a:solidFill>
                  <a:srgbClr val="002855"/>
                </a:solidFill>
                <a:latin typeface="Calibri"/>
              </a:rPr>
              <a:t>04.  La Solution CUBE</a:t>
            </a:r>
          </a:p>
          <a:p>
            <a:pPr algn="l"/>
            <a:r>
              <a:rPr sz="400"/>
              <a:t/>
            </a:r>
          </a:p>
          <a:p>
            <a:pPr algn="l"/>
            <a:r>
              <a:rPr sz="1600" b="0">
                <a:solidFill>
                  <a:srgbClr val="002855"/>
                </a:solidFill>
                <a:latin typeface="Calibri"/>
              </a:rPr>
              <a:t>05.  Le Flux CUBE en 6 etapes</a:t>
            </a:r>
          </a:p>
          <a:p>
            <a:pPr algn="l"/>
            <a:r>
              <a:rPr sz="400"/>
              <a:t/>
            </a:r>
          </a:p>
          <a:p>
            <a:pPr algn="l"/>
            <a:r>
              <a:rPr sz="1600" b="0">
                <a:solidFill>
                  <a:srgbClr val="002855"/>
                </a:solidFill>
                <a:latin typeface="Calibri"/>
              </a:rPr>
              <a:t>06.  Convergence FAISE x CUBE</a:t>
            </a:r>
          </a:p>
          <a:p>
            <a:pPr algn="l"/>
            <a:r>
              <a:rPr sz="400"/>
              <a:t/>
            </a:r>
          </a:p>
          <a:p>
            <a:pPr algn="l"/>
            <a:r>
              <a:rPr sz="1600" b="0">
                <a:solidFill>
                  <a:srgbClr val="002855"/>
                </a:solidFill>
                <a:latin typeface="Calibri"/>
              </a:rPr>
              <a:t>07.  Voies de Partenariat</a:t>
            </a:r>
          </a:p>
          <a:p>
            <a:pPr algn="l"/>
            <a:r>
              <a:rPr sz="400"/>
              <a:t/>
            </a:r>
          </a:p>
          <a:p>
            <a:pPr algn="l"/>
            <a:r>
              <a:rPr sz="1600" b="0">
                <a:solidFill>
                  <a:srgbClr val="002855"/>
                </a:solidFill>
                <a:latin typeface="Calibri"/>
              </a:rPr>
              <a:t>08.  Modele economique partage</a:t>
            </a:r>
          </a:p>
          <a:p>
            <a:pPr algn="l"/>
            <a:r>
              <a:rPr sz="400"/>
              <a:t/>
            </a:r>
          </a:p>
          <a:p>
            <a:pPr algn="l"/>
            <a:r>
              <a:rPr sz="1600" b="0">
                <a:solidFill>
                  <a:srgbClr val="002855"/>
                </a:solidFill>
                <a:latin typeface="Calibri"/>
              </a:rPr>
              <a:t>09.  Resultats Attendus</a:t>
            </a:r>
          </a:p>
          <a:p>
            <a:pPr algn="l"/>
            <a:r>
              <a:rPr sz="400"/>
              <a:t/>
            </a:r>
          </a:p>
          <a:p>
            <a:pPr algn="l"/>
            <a:r>
              <a:rPr sz="1600" b="0">
                <a:solidFill>
                  <a:srgbClr val="002855"/>
                </a:solidFill>
                <a:latin typeface="Calibri"/>
              </a:rPr>
              <a:t>10.  Next Steps</a:t>
            </a:r>
          </a:p>
          <a:p>
            <a:pPr algn="l"/>
            <a:r>
              <a:rPr sz="400"/>
              <a:t/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2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0"/>
            <a:ext cx="54864" cy="6035040"/>
          </a:xfrm>
          <a:prstGeom prst="rect">
            <a:avLst/>
          </a:prstGeom>
          <a:solidFill>
            <a:srgbClr val="C8A9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C8A956"/>
                </a:solidFill>
                <a:latin typeface="Calibri"/>
              </a:rPr>
              <a:t>QUI SOMMES-NOUS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109728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02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601968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C8A956"/>
                </a:solidFill>
                <a:latin typeface="Calibri"/>
              </a:rPr>
              <a:t>CONFIDENTIEL  |  Cabinet Carree x CUBE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002855"/>
                </a:solidFill>
                <a:latin typeface="Calibri"/>
              </a:rPr>
              <a:t>Un cabinet ancre dans la realite des PME africaines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1645920"/>
            <a:ext cx="3200400" cy="1280160"/>
          </a:xfrm>
          <a:prstGeom prst="rect">
            <a:avLst/>
          </a:prstGeom>
          <a:solidFill>
            <a:srgbClr val="F8F9FA"/>
          </a:solidFill>
          <a:ln w="12700">
            <a:solidFill>
              <a:srgbClr val="C8A9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73736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C8A956"/>
                </a:solidFill>
                <a:latin typeface="Calibri"/>
              </a:rPr>
              <a:t>70 000+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3774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6C757D"/>
                </a:solidFill>
                <a:latin typeface="Calibri"/>
              </a:rPr>
              <a:t>clients accompagnes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97680" y="1645920"/>
            <a:ext cx="3200400" cy="1280160"/>
          </a:xfrm>
          <a:prstGeom prst="rect">
            <a:avLst/>
          </a:prstGeom>
          <a:solidFill>
            <a:srgbClr val="F8F9FA"/>
          </a:solidFill>
          <a:ln w="12700">
            <a:solidFill>
              <a:srgbClr val="C8A9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97680" y="173736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C8A956"/>
                </a:solidFill>
                <a:latin typeface="Calibri"/>
              </a:rPr>
              <a:t>50+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97680" y="23774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6C757D"/>
                </a:solidFill>
                <a:latin typeface="Calibri"/>
              </a:rPr>
              <a:t>pays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955279" y="1645920"/>
            <a:ext cx="3200400" cy="1280160"/>
          </a:xfrm>
          <a:prstGeom prst="rect">
            <a:avLst/>
          </a:prstGeom>
          <a:solidFill>
            <a:srgbClr val="F8F9FA"/>
          </a:solidFill>
          <a:ln w="12700">
            <a:solidFill>
              <a:srgbClr val="C8A9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955279" y="173736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C8A956"/>
                </a:solidFill>
                <a:latin typeface="Calibri"/>
              </a:rPr>
              <a:t>7 ans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55279" y="23774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6C757D"/>
                </a:solidFill>
                <a:latin typeface="Calibri"/>
              </a:rPr>
              <a:t>d'experience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3200400"/>
            <a:ext cx="10515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12529"/>
                </a:solidFill>
                <a:latin typeface="Calibri"/>
              </a:rPr>
              <a:t>Fonde en janvier 2019 a Dakar, Senegal</a:t>
            </a:r>
          </a:p>
          <a:p>
            <a:pPr algn="l"/>
            <a:r>
              <a:rPr sz="1100" b="0">
                <a:solidFill>
                  <a:srgbClr val="6C757D"/>
                </a:solidFill>
                <a:latin typeface="Calibri"/>
              </a:rPr>
              <a:t>Conseil strategique, accompagnement TPE/PME, gestion de projets, transformation digitale</a:t>
            </a:r>
          </a:p>
          <a:p>
            <a:pPr algn="l"/>
            <a:r>
              <a:rPr sz="400"/>
              <a:t/>
            </a:r>
          </a:p>
          <a:p>
            <a:pPr algn="l"/>
            <a:r>
              <a:rPr sz="1100" b="0">
                <a:solidFill>
                  <a:srgbClr val="6C757D"/>
                </a:solidFill>
                <a:latin typeface="Calibri"/>
              </a:rPr>
              <a:t>Programme SENEV : accelerateur international pour PME africaines</a:t>
            </a:r>
          </a:p>
          <a:p>
            <a:pPr algn="l"/>
            <a:r>
              <a:rPr sz="1100" b="1">
                <a:solidFill>
                  <a:srgbClr val="002855"/>
                </a:solidFill>
                <a:latin typeface="Calibri"/>
              </a:rPr>
              <a:t>Cas reel : BMR (Body Medical Repair) — subvention de 20M FCFA obtenue en 9 mois</a:t>
            </a:r>
          </a:p>
          <a:p>
            <a:pPr algn="l"/>
            <a:r>
              <a:rPr sz="400"/>
              <a:t/>
            </a:r>
          </a:p>
          <a:p>
            <a:pPr algn="l"/>
            <a:r>
              <a:rPr sz="1100" b="0">
                <a:solidFill>
                  <a:srgbClr val="6C757D"/>
                </a:solidFill>
                <a:latin typeface="Calibri"/>
              </a:rPr>
              <a:t>Clients : PME, multinationales, ONG, institutions publiques</a:t>
            </a:r>
          </a:p>
          <a:p>
            <a:pPr algn="l"/>
            <a:r>
              <a:rPr sz="1100" b="0">
                <a:solidFill>
                  <a:srgbClr val="C8A956"/>
                </a:solidFill>
                <a:latin typeface="Calibri"/>
              </a:rPr>
              <a:t>Site : ccarree.com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2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0"/>
            <a:ext cx="54864" cy="6035040"/>
          </a:xfrm>
          <a:prstGeom prst="rect">
            <a:avLst/>
          </a:prstGeom>
          <a:solidFill>
            <a:srgbClr val="C8A9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C8A956"/>
                </a:solidFill>
                <a:latin typeface="Calibri"/>
              </a:rPr>
              <a:t>LE CONSTAT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109728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02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601968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C8A956"/>
                </a:solidFill>
                <a:latin typeface="Calibri"/>
              </a:rPr>
              <a:t>CONFIDENTIEL  |  Cabinet Carree x CUBE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002855"/>
                </a:solidFill>
                <a:latin typeface="Calibri"/>
              </a:rPr>
              <a:t>Un potentiel immense, bloque par un deficit de financement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1554480"/>
            <a:ext cx="5303520" cy="219456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1554480"/>
            <a:ext cx="54864" cy="219456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173736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2855"/>
                </a:solidFill>
                <a:latin typeface="Calibri"/>
              </a:rPr>
              <a:t>PME SENEGALAISES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103120"/>
            <a:ext cx="4754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C757D"/>
                </a:solidFill>
                <a:latin typeface="Calibri"/>
              </a:rPr>
              <a:t>Rentables mais incapables de financer stock au bon moment. Taux bancaires: 12-18%. Garanties inaccessibles.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10896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C8A956"/>
                </a:solidFill>
                <a:latin typeface="Calibri"/>
              </a:rPr>
              <a:t>90% du tissu economique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09360" y="1554480"/>
            <a:ext cx="5303520" cy="219456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09360" y="1554480"/>
            <a:ext cx="54864" cy="219456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0" y="173736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2855"/>
                </a:solidFill>
                <a:latin typeface="Calibri"/>
              </a:rPr>
              <a:t>DIASPORA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2103120"/>
            <a:ext cx="4754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C757D"/>
                </a:solidFill>
                <a:latin typeface="Calibri"/>
              </a:rPr>
              <a:t>+200 Mds FCFA/an transferes. 90% va a la consommation. Aucun vehicule d'investissement structure.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310896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C8A956"/>
                </a:solidFill>
                <a:latin typeface="Calibri"/>
              </a:rPr>
              <a:t>+200 Mds FCFA/an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4023360"/>
            <a:ext cx="5303520" cy="219456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40080" y="4023360"/>
            <a:ext cx="54864" cy="219456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420624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2855"/>
                </a:solidFill>
                <a:latin typeface="Calibri"/>
              </a:rPr>
              <a:t>BANQUES CLASSIQUES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4572000"/>
            <a:ext cx="4754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C757D"/>
                </a:solidFill>
                <a:latin typeface="Calibri"/>
              </a:rPr>
              <a:t>Asymetrie info, garanties insuffisantes, processus de 3-6 mois. PME sous-bancarisees.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557784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C8A956"/>
                </a:solidFill>
                <a:latin typeface="Calibri"/>
              </a:rPr>
              <a:t>12-18% taux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09360" y="4023360"/>
            <a:ext cx="5303520" cy="219456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309360" y="4023360"/>
            <a:ext cx="54864" cy="219456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83680" y="420624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2855"/>
                </a:solidFill>
                <a:latin typeface="Calibri"/>
              </a:rPr>
              <a:t>FAISE ACTUEL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0" y="4572000"/>
            <a:ext cx="4754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C757D"/>
                </a:solidFill>
                <a:latin typeface="Calibri"/>
              </a:rPr>
              <a:t>5-15M FCFA/projet. 643 projets en 15 ans. "Ne peut satisfaire toutes les demandes."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0" y="557784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C8A956"/>
                </a:solidFill>
                <a:latin typeface="Calibri"/>
              </a:rPr>
              <a:t>643 projets / 15 ans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2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0"/>
            <a:ext cx="54864" cy="6035040"/>
          </a:xfrm>
          <a:prstGeom prst="rect">
            <a:avLst/>
          </a:prstGeom>
          <a:solidFill>
            <a:srgbClr val="C8A9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C8A956"/>
                </a:solidFill>
                <a:latin typeface="Calibri"/>
              </a:rPr>
              <a:t>SUR LE TERRAIN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109728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02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601968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C8A956"/>
                </a:solidFill>
                <a:latin typeface="Calibri"/>
              </a:rPr>
              <a:t>CONFIDENTIEL  |  Cabinet Carree x CUBE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002855"/>
                </a:solidFill>
                <a:latin typeface="Calibri"/>
              </a:rPr>
              <a:t>Trois PME accompagnees — le probleme en chiffres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1554480"/>
            <a:ext cx="10881360" cy="146304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1554480"/>
            <a:ext cx="54864" cy="1463040"/>
          </a:xfrm>
          <a:prstGeom prst="rect">
            <a:avLst/>
          </a:prstGeom>
          <a:solidFill>
            <a:srgbClr val="C8A9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1691640"/>
            <a:ext cx="1097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C8A956"/>
                </a:solidFill>
                <a:latin typeface="Calibri"/>
              </a:rPr>
              <a:t>25M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224028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C757D"/>
                </a:solidFill>
                <a:latin typeface="Calibri"/>
              </a:rPr>
              <a:t>FCFA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03120" y="16916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2855"/>
                </a:solidFill>
                <a:latin typeface="Calibri"/>
              </a:rPr>
              <a:t>Stamipol Group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03120" y="20116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C757D"/>
                </a:solidFill>
                <a:latin typeface="Calibri"/>
              </a:rPr>
              <a:t>Cosmetique &amp; Bien-etre | Maristes, Dakar | 11-50 employes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03120" y="22860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12529"/>
                </a:solidFill>
                <a:latin typeface="Calibri"/>
              </a:rPr>
              <a:t>Stock importe: 25M FCFA | Cycle: 6 mois | Marge: 100-150%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03120" y="25603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E74C3C"/>
                </a:solidFill>
                <a:latin typeface="Calibri"/>
              </a:rPr>
              <a:t>Probleme: Refus bancaire faute de track record international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3200400"/>
            <a:ext cx="10881360" cy="146304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0080" y="3200400"/>
            <a:ext cx="54864" cy="1463040"/>
          </a:xfrm>
          <a:prstGeom prst="rect">
            <a:avLst/>
          </a:prstGeom>
          <a:solidFill>
            <a:srgbClr val="C8A9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3337560"/>
            <a:ext cx="1097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C8A956"/>
                </a:solidFill>
                <a:latin typeface="Calibri"/>
              </a:rPr>
              <a:t>12M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388620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C757D"/>
                </a:solidFill>
                <a:latin typeface="Calibri"/>
              </a:rPr>
              <a:t>FCFA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03120" y="33375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2855"/>
                </a:solidFill>
                <a:latin typeface="Calibri"/>
              </a:rPr>
              <a:t>Fasha'Style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103120" y="36576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C757D"/>
                </a:solidFill>
                <a:latin typeface="Calibri"/>
              </a:rPr>
              <a:t>Mode &amp; Textile | Ouest Foire, Dakar | fashastyle.com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03120" y="393192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12529"/>
                </a:solidFill>
                <a:latin typeface="Calibri"/>
              </a:rPr>
              <a:t>Stock saisonnier: 12M FCFA | Rotation 3x/an | Marge: 80-120%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103120" y="420624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E74C3C"/>
                </a:solidFill>
                <a:latin typeface="Calibri"/>
              </a:rPr>
              <a:t>Probleme: Impossible de financer 2 saisons simultanement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" y="4846320"/>
            <a:ext cx="10881360" cy="146304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40080" y="4846320"/>
            <a:ext cx="54864" cy="1463040"/>
          </a:xfrm>
          <a:prstGeom prst="rect">
            <a:avLst/>
          </a:prstGeom>
          <a:solidFill>
            <a:srgbClr val="C8A9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" y="4983480"/>
            <a:ext cx="1097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C8A956"/>
                </a:solidFill>
                <a:latin typeface="Calibri"/>
              </a:rPr>
              <a:t>20M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" y="553212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C757D"/>
                </a:solidFill>
                <a:latin typeface="Calibri"/>
              </a:rPr>
              <a:t>FCFA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103120" y="49834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2855"/>
                </a:solidFill>
                <a:latin typeface="Calibri"/>
              </a:rPr>
              <a:t>PME Distribution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103120" y="53035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C757D"/>
                </a:solidFill>
                <a:latin typeface="Calibri"/>
              </a:rPr>
              <a:t>Alimentaire, Dakar | CA annuel: 85M FCFA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103120" y="55778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12529"/>
                </a:solidFill>
                <a:latin typeface="Calibri"/>
              </a:rPr>
              <a:t>Stock necessaire: 20M/trimestre | Marge: 35-45%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103120" y="585216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E74C3C"/>
                </a:solidFill>
                <a:latin typeface="Calibri"/>
              </a:rPr>
              <a:t>Probleme: Stock limite a 8M = 40% du CA perdu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2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0"/>
            <a:ext cx="54864" cy="6035040"/>
          </a:xfrm>
          <a:prstGeom prst="rect">
            <a:avLst/>
          </a:prstGeom>
          <a:solidFill>
            <a:srgbClr val="C8A9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C8A956"/>
                </a:solidFill>
                <a:latin typeface="Calibri"/>
              </a:rPr>
              <a:t>LA REPONSE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109728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Calibri"/>
              </a:rPr>
              <a:t>04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02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601968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C8A956"/>
                </a:solidFill>
                <a:latin typeface="Calibri"/>
              </a:rPr>
              <a:t>CONFIDENTIEL  |  Cabinet Carree x CUBE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002855"/>
                </a:solidFill>
                <a:latin typeface="Calibri"/>
              </a:rPr>
              <a:t>CUBE — Connecter l'epargne diaspora aux actifs PME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554480"/>
            <a:ext cx="64008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12529"/>
                </a:solidFill>
                <a:latin typeface="Calibri"/>
              </a:rPr>
              <a:t>Plateforme web de crowdfunding d'actifs : la diaspora investit directement dans les stocks de PME pre-qualifiees par Cabinet Carree.</a:t>
            </a:r>
          </a:p>
          <a:p>
            <a:pPr algn="l"/>
            <a:r>
              <a:rPr sz="400"/>
              <a:t/>
            </a:r>
          </a:p>
          <a:p>
            <a:pPr algn="l"/>
            <a:r>
              <a:rPr sz="1400" b="1">
                <a:solidFill>
                  <a:srgbClr val="002855"/>
                </a:solidFill>
                <a:latin typeface="Calibri"/>
              </a:rPr>
              <a:t>Le mecanisme:</a:t>
            </a:r>
          </a:p>
          <a:p>
            <a:pPr algn="l"/>
            <a:r>
              <a:rPr sz="1200" b="0">
                <a:solidFill>
                  <a:srgbClr val="212529"/>
                </a:solidFill>
                <a:latin typeface="Calibri"/>
              </a:rPr>
              <a:t>1. Cabinet Carree acquiert le stock pour le compte de l'investisseur</a:t>
            </a:r>
          </a:p>
          <a:p>
            <a:pPr algn="l"/>
            <a:r>
              <a:rPr sz="1200" b="0">
                <a:solidFill>
                  <a:srgbClr val="212529"/>
                </a:solidFill>
                <a:latin typeface="Calibri"/>
              </a:rPr>
              <a:t>2. Le stock est mis a disposition de la PME</a:t>
            </a:r>
          </a:p>
          <a:p>
            <a:pPr algn="l"/>
            <a:r>
              <a:rPr sz="1200" b="0">
                <a:solidFill>
                  <a:srgbClr val="212529"/>
                </a:solidFill>
                <a:latin typeface="Calibri"/>
              </a:rPr>
              <a:t>3. La PME revend avec ses marges habituelles (35% a 200%)</a:t>
            </a:r>
          </a:p>
          <a:p>
            <a:pPr algn="l"/>
            <a:r>
              <a:rPr sz="1200" b="0">
                <a:solidFill>
                  <a:srgbClr val="212529"/>
                </a:solidFill>
                <a:latin typeface="Calibri"/>
              </a:rPr>
              <a:t>4. L'investisseur recupere capital + rendement garanti</a:t>
            </a:r>
          </a:p>
          <a:p>
            <a:pPr algn="l"/>
            <a:r>
              <a:rPr sz="400"/>
              <a:t/>
            </a:r>
          </a:p>
          <a:p>
            <a:pPr algn="l"/>
            <a:r>
              <a:rPr sz="1200" b="1">
                <a:solidFill>
                  <a:srgbClr val="002855"/>
                </a:solidFill>
                <a:latin typeface="Calibri"/>
              </a:rPr>
              <a:t>Garantie triple: stock physique + PME pre-qualifiees + partenaire bancaire (Cofina/SGBS/Microcash)</a:t>
            </a:r>
          </a:p>
        </p:txBody>
      </p:sp>
      <p:sp>
        <p:nvSpPr>
          <p:cNvPr id="10" name="Rectangle 9"/>
          <p:cNvSpPr/>
          <p:nvPr/>
        </p:nvSpPr>
        <p:spPr>
          <a:xfrm>
            <a:off x="7498079" y="1554480"/>
            <a:ext cx="4114800" cy="1371600"/>
          </a:xfrm>
          <a:prstGeom prst="rect">
            <a:avLst/>
          </a:prstGeom>
          <a:solidFill>
            <a:srgbClr val="F8F9FA"/>
          </a:solidFill>
          <a:ln w="12700">
            <a:solidFill>
              <a:srgbClr val="F8F9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80959" y="16459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2855"/>
                </a:solidFill>
                <a:latin typeface="Calibri"/>
              </a:rPr>
              <a:t>CUBE Starter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80959" y="192024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C8A956"/>
                </a:solidFill>
                <a:latin typeface="Calibri"/>
              </a:rPr>
              <a:t>50%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3999" y="20574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C757D"/>
                </a:solidFill>
                <a:latin typeface="Calibri"/>
              </a:rPr>
              <a:t>/ 6 mois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80959" y="24688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C757D"/>
                </a:solidFill>
                <a:latin typeface="Calibri"/>
              </a:rPr>
              <a:t>Court terme, rotation rapide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498079" y="3200400"/>
            <a:ext cx="4114800" cy="1371600"/>
          </a:xfrm>
          <a:prstGeom prst="rect">
            <a:avLst/>
          </a:prstGeom>
          <a:solidFill>
            <a:srgbClr val="F8F9FA"/>
          </a:solidFill>
          <a:ln w="12700">
            <a:solidFill>
              <a:srgbClr val="C8A9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80959" y="32918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2855"/>
                </a:solidFill>
                <a:latin typeface="Calibri"/>
              </a:rPr>
              <a:t>CUBE Premium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80959" y="356616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C8A956"/>
                </a:solidFill>
                <a:latin typeface="Calibri"/>
              </a:rPr>
              <a:t>100%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3999" y="37033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C757D"/>
                </a:solidFill>
                <a:latin typeface="Calibri"/>
              </a:rPr>
              <a:t>/ 12 mois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80959" y="41148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C757D"/>
                </a:solidFill>
                <a:latin typeface="Calibri"/>
              </a:rPr>
              <a:t>Formule phare, haute marge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498079" y="4846320"/>
            <a:ext cx="4114800" cy="1371600"/>
          </a:xfrm>
          <a:prstGeom prst="rect">
            <a:avLst/>
          </a:prstGeom>
          <a:solidFill>
            <a:srgbClr val="F8F9FA"/>
          </a:solidFill>
          <a:ln w="12700">
            <a:solidFill>
              <a:srgbClr val="F8F9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680959" y="493776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2855"/>
                </a:solidFill>
                <a:latin typeface="Calibri"/>
              </a:rPr>
              <a:t>CUBE Elite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80959" y="521208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C8A956"/>
                </a:solidFill>
                <a:latin typeface="Calibri"/>
              </a:rPr>
              <a:t>150%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3999" y="53492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C757D"/>
                </a:solidFill>
                <a:latin typeface="Calibri"/>
              </a:rPr>
              <a:t>/ 18 mois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80959" y="57607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C757D"/>
                </a:solidFill>
                <a:latin typeface="Calibri"/>
              </a:rPr>
              <a:t>Long terme, diversifie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2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0"/>
            <a:ext cx="54864" cy="6035040"/>
          </a:xfrm>
          <a:prstGeom prst="rect">
            <a:avLst/>
          </a:prstGeom>
          <a:solidFill>
            <a:srgbClr val="C8A9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C8A956"/>
                </a:solidFill>
                <a:latin typeface="Calibri"/>
              </a:rPr>
              <a:t>LE MECANISME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109728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Calibri"/>
              </a:rPr>
              <a:t>05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02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601968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C8A956"/>
                </a:solidFill>
                <a:latin typeface="Calibri"/>
              </a:rPr>
              <a:t>CONFIDENTIEL  |  Cabinet Carree x CUBE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002855"/>
                </a:solidFill>
                <a:latin typeface="Calibri"/>
              </a:rPr>
              <a:t>Le flux CUBE en 6 etapes — simple, transparent, securise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828800"/>
            <a:ext cx="1737360" cy="3200400"/>
          </a:xfrm>
          <a:prstGeom prst="rect">
            <a:avLst/>
          </a:prstGeom>
          <a:solidFill>
            <a:srgbClr val="F8F9FA"/>
          </a:solidFill>
          <a:ln w="12700">
            <a:solidFill>
              <a:srgbClr val="0028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97280" y="2011680"/>
            <a:ext cx="457200" cy="457200"/>
          </a:xfrm>
          <a:prstGeom prst="rect">
            <a:avLst/>
          </a:prstGeom>
          <a:solidFill>
            <a:srgbClr val="C8A9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20116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02855"/>
                </a:solidFill>
                <a:latin typeface="Calibri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65176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002855"/>
                </a:solidFill>
                <a:latin typeface="Calibri"/>
              </a:rPr>
              <a:t>Investisseur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108960"/>
            <a:ext cx="1554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6C757D"/>
                </a:solidFill>
                <a:latin typeface="Calibri"/>
              </a:rPr>
              <a:t>Inscription sur CUBE,
consulte opportunites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48840" y="320040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C8A956"/>
                </a:solidFill>
                <a:latin typeface="Calibri"/>
              </a:rPr>
              <a:t>&gt;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377440" y="1828800"/>
            <a:ext cx="1737360" cy="3200400"/>
          </a:xfrm>
          <a:prstGeom prst="rect">
            <a:avLst/>
          </a:prstGeom>
          <a:solidFill>
            <a:srgbClr val="F8F9FA"/>
          </a:solidFill>
          <a:ln w="12700">
            <a:solidFill>
              <a:srgbClr val="0028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017520" y="2011680"/>
            <a:ext cx="457200" cy="457200"/>
          </a:xfrm>
          <a:prstGeom prst="rect">
            <a:avLst/>
          </a:prstGeom>
          <a:solidFill>
            <a:srgbClr val="C8A9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017520" y="20116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02855"/>
                </a:solidFill>
                <a:latin typeface="Calibr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468880" y="265176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002855"/>
                </a:solidFill>
                <a:latin typeface="Calibri"/>
              </a:rPr>
              <a:t>Investissement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468880" y="3108960"/>
            <a:ext cx="1554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6C757D"/>
                </a:solidFill>
                <a:latin typeface="Calibri"/>
              </a:rPr>
              <a:t>Choisit un lot,
investit via virement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069080" y="320040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C8A956"/>
                </a:solidFill>
                <a:latin typeface="Calibri"/>
              </a:rPr>
              <a:t>&gt;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297680" y="1828800"/>
            <a:ext cx="1737360" cy="3200400"/>
          </a:xfrm>
          <a:prstGeom prst="rect">
            <a:avLst/>
          </a:prstGeom>
          <a:solidFill>
            <a:srgbClr val="F8F9FA"/>
          </a:solidFill>
          <a:ln w="12700">
            <a:solidFill>
              <a:srgbClr val="0028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937760" y="2011680"/>
            <a:ext cx="457200" cy="457200"/>
          </a:xfrm>
          <a:prstGeom prst="rect">
            <a:avLst/>
          </a:prstGeom>
          <a:solidFill>
            <a:srgbClr val="C8A9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937760" y="20116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02855"/>
                </a:solidFill>
                <a:latin typeface="Calibri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89120" y="265176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002855"/>
                </a:solidFill>
                <a:latin typeface="Calibri"/>
              </a:rPr>
              <a:t>Securisation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89120" y="3108960"/>
            <a:ext cx="1554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6C757D"/>
                </a:solidFill>
                <a:latin typeface="Calibri"/>
              </a:rPr>
              <a:t>Fonds securises
chez partenaire bancaire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89320" y="320040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C8A956"/>
                </a:solidFill>
                <a:latin typeface="Calibri"/>
              </a:rPr>
              <a:t>&gt;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17920" y="1828800"/>
            <a:ext cx="1737360" cy="3200400"/>
          </a:xfrm>
          <a:prstGeom prst="rect">
            <a:avLst/>
          </a:prstGeom>
          <a:solidFill>
            <a:srgbClr val="F8F9FA"/>
          </a:solidFill>
          <a:ln w="12700">
            <a:solidFill>
              <a:srgbClr val="0028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858000" y="2011680"/>
            <a:ext cx="457200" cy="457200"/>
          </a:xfrm>
          <a:prstGeom prst="rect">
            <a:avLst/>
          </a:prstGeom>
          <a:solidFill>
            <a:srgbClr val="C8A9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58000" y="20116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02855"/>
                </a:solidFill>
                <a:latin typeface="Calibri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09360" y="265176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002855"/>
                </a:solidFill>
                <a:latin typeface="Calibri"/>
              </a:rPr>
              <a:t>Acquisition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09360" y="3108960"/>
            <a:ext cx="1554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6C757D"/>
                </a:solidFill>
                <a:latin typeface="Calibri"/>
              </a:rPr>
              <a:t>Cabinet acquiert stock
pour la PME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909560" y="320040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C8A956"/>
                </a:solidFill>
                <a:latin typeface="Calibri"/>
              </a:rPr>
              <a:t>&gt;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138160" y="1828800"/>
            <a:ext cx="1737360" cy="3200400"/>
          </a:xfrm>
          <a:prstGeom prst="rect">
            <a:avLst/>
          </a:prstGeom>
          <a:solidFill>
            <a:srgbClr val="F8F9FA"/>
          </a:solidFill>
          <a:ln w="12700">
            <a:solidFill>
              <a:srgbClr val="0028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778240" y="2011680"/>
            <a:ext cx="457200" cy="457200"/>
          </a:xfrm>
          <a:prstGeom prst="rect">
            <a:avLst/>
          </a:prstGeom>
          <a:solidFill>
            <a:srgbClr val="C8A9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778240" y="20116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02855"/>
                </a:solidFill>
                <a:latin typeface="Calibri"/>
              </a:rPr>
              <a:t>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29600" y="265176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002855"/>
                </a:solidFill>
                <a:latin typeface="Calibri"/>
              </a:rPr>
              <a:t>Vente PME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29600" y="3108960"/>
            <a:ext cx="1554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6C757D"/>
                </a:solidFill>
                <a:latin typeface="Calibri"/>
              </a:rPr>
              <a:t>PME revend stock
avec ses marges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829800" y="320040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C8A956"/>
                </a:solidFill>
                <a:latin typeface="Calibri"/>
              </a:rPr>
              <a:t>&gt;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0058400" y="1828800"/>
            <a:ext cx="1737360" cy="3200400"/>
          </a:xfrm>
          <a:prstGeom prst="rect">
            <a:avLst/>
          </a:prstGeom>
          <a:solidFill>
            <a:srgbClr val="F8F9FA"/>
          </a:solidFill>
          <a:ln w="12700">
            <a:solidFill>
              <a:srgbClr val="0028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10698480" y="2011680"/>
            <a:ext cx="457200" cy="457200"/>
          </a:xfrm>
          <a:prstGeom prst="rect">
            <a:avLst/>
          </a:prstGeom>
          <a:solidFill>
            <a:srgbClr val="C8A9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698480" y="20116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02855"/>
                </a:solidFill>
                <a:latin typeface="Calibri"/>
              </a:rPr>
              <a:t>6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149840" y="265176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002855"/>
                </a:solidFill>
                <a:latin typeface="Calibri"/>
              </a:rPr>
              <a:t>Redistribution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149840" y="3108960"/>
            <a:ext cx="1554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6C757D"/>
                </a:solidFill>
                <a:latin typeface="Calibri"/>
              </a:rPr>
              <a:t>Capital + rendement
retourne investisseur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2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0"/>
            <a:ext cx="54864" cy="6035040"/>
          </a:xfrm>
          <a:prstGeom prst="rect">
            <a:avLst/>
          </a:prstGeom>
          <a:solidFill>
            <a:srgbClr val="C8A9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C8A956"/>
                </a:solidFill>
                <a:latin typeface="Calibri"/>
              </a:rPr>
              <a:t>SYNERGIE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109728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Calibri"/>
              </a:rPr>
              <a:t>06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02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601968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C8A956"/>
                </a:solidFill>
                <a:latin typeface="Calibri"/>
              </a:rPr>
              <a:t>CONFIDENTIEL  |  Cabinet Carree x CUBE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002855"/>
                </a:solidFill>
                <a:latin typeface="Calibri"/>
              </a:rPr>
              <a:t>Pourquoi FAISE et CUBE sont des partenaires naturels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40080" y="1554480"/>
          <a:ext cx="1088136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  <a:gridCol w="2651760"/>
              </a:tblGrid>
              <a:tr h="533400">
                <a:tc>
                  <a:txBody>
                    <a:bodyPr/>
                    <a:lstStyle/>
                    <a:p/>
                  </a:txBody>
                  <a:tcPr>
                    <a:solidFill>
                      <a:srgbClr val="00285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FAISE seul</a:t>
                      </a:r>
                    </a:p>
                  </a:txBody>
                  <a:tcPr>
                    <a:solidFill>
                      <a:srgbClr val="00285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CUBE seul</a:t>
                      </a:r>
                    </a:p>
                  </a:txBody>
                  <a:tcPr>
                    <a:solidFill>
                      <a:srgbClr val="00285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Calibri"/>
                        </a:rPr>
                        <a:t>FAISE x CUBE</a:t>
                      </a:r>
                    </a:p>
                  </a:txBody>
                  <a:tcPr>
                    <a:solidFill>
                      <a:srgbClr val="002855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r>
                        <a:rPr sz="1000" b="0">
                          <a:latin typeface="Calibri"/>
                        </a:rPr>
                        <a:t>Financement max/projet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Calibri"/>
                        </a:rPr>
                        <a:t>5-15M FCFA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Calibri"/>
                        </a:rPr>
                        <a:t>Illimite (crowd)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002855"/>
                          </a:solidFill>
                          <a:latin typeface="Calibri"/>
                        </a:rPr>
                        <a:t>DECUPLE</a:t>
                      </a:r>
                    </a:p>
                  </a:txBody>
                  <a:tcPr>
                    <a:solidFill>
                      <a:srgbClr val="FFF8E1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r>
                        <a:rPr sz="1000" b="0">
                          <a:latin typeface="Calibri"/>
                        </a:rPr>
                        <a:t>Beneficiaires/an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Calibri"/>
                        </a:rPr>
                        <a:t>~43 projets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Calibri"/>
                        </a:rPr>
                        <a:t>100+ PME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002855"/>
                          </a:solidFill>
                          <a:latin typeface="Calibri"/>
                        </a:rPr>
                        <a:t>500+ PME</a:t>
                      </a:r>
                    </a:p>
                  </a:txBody>
                  <a:tcPr>
                    <a:solidFill>
                      <a:srgbClr val="FFF8E1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r>
                        <a:rPr sz="1000" b="0">
                          <a:latin typeface="Calibri"/>
                        </a:rPr>
                        <a:t>Retour sur fonds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Calibri"/>
                        </a:rPr>
                        <a:t>Non (subvention)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Calibri"/>
                        </a:rPr>
                        <a:t>50-150%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002855"/>
                          </a:solidFill>
                          <a:latin typeface="Calibri"/>
                        </a:rPr>
                        <a:t>Fonds revolving</a:t>
                      </a:r>
                    </a:p>
                  </a:txBody>
                  <a:tcPr>
                    <a:solidFill>
                      <a:srgbClr val="FFF8E1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r>
                        <a:rPr sz="1000" b="0">
                          <a:latin typeface="Calibri"/>
                        </a:rPr>
                        <a:t>Tracabilite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Calibri"/>
                        </a:rPr>
                        <a:t>Manuelle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Calibri"/>
                        </a:rPr>
                        <a:t>Digitale temps reel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002855"/>
                          </a:solidFill>
                          <a:latin typeface="Calibri"/>
                        </a:rPr>
                        <a:t>Digitale + institutionnelle</a:t>
                      </a:r>
                    </a:p>
                  </a:txBody>
                  <a:tcPr>
                    <a:solidFill>
                      <a:srgbClr val="FFF8E1"/>
                    </a:solidFill>
                  </a:tcPr>
                </a:tc>
              </a:tr>
              <a:tr h="533400">
                <a:tc>
                  <a:txBody>
                    <a:bodyPr/>
                    <a:lstStyle/>
                    <a:p>
                      <a:r>
                        <a:rPr sz="1000" b="0">
                          <a:latin typeface="Calibri"/>
                        </a:rPr>
                        <a:t>Impact diaspora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Calibri"/>
                        </a:rPr>
                        <a:t>Indirect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>
                          <a:latin typeface="Calibri"/>
                        </a:rPr>
                        <a:t>Direct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002855"/>
                          </a:solidFill>
                          <a:latin typeface="Calibri"/>
                        </a:rPr>
                        <a:t>Direct + labellise Etat</a:t>
                      </a:r>
                    </a:p>
                  </a:txBody>
                  <a:tcPr>
                    <a:solidFill>
                      <a:srgbClr val="FFF8E1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40080" y="502920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C8A956"/>
                </a:solidFill>
                <a:latin typeface="Calibri"/>
              </a:rPr>
              <a:t>"Le FAISE reconnait ne pouvoir satisfaire toutes les demandes eligibles." — CUBE est la reponse.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2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0"/>
            <a:ext cx="54864" cy="6035040"/>
          </a:xfrm>
          <a:prstGeom prst="rect">
            <a:avLst/>
          </a:prstGeom>
          <a:solidFill>
            <a:srgbClr val="C8A9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C8A956"/>
                </a:solidFill>
                <a:latin typeface="Calibri"/>
              </a:rPr>
              <a:t>PROPOSITION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109728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Calibri"/>
              </a:rPr>
              <a:t>07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02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601968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C8A956"/>
                </a:solidFill>
                <a:latin typeface="Calibri"/>
              </a:rPr>
              <a:t>CONFIDENTIEL  |  Cabinet Carree x CUBE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002855"/>
                </a:solidFill>
                <a:latin typeface="Calibri"/>
              </a:rPr>
              <a:t>Trois modalites de partenariat — selon vos priorites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1554480"/>
            <a:ext cx="3474720" cy="4572000"/>
          </a:xfrm>
          <a:prstGeom prst="rect">
            <a:avLst/>
          </a:prstGeom>
          <a:solidFill>
            <a:srgbClr val="F8F9FA"/>
          </a:solidFill>
          <a:ln w="12700">
            <a:solidFill>
              <a:srgbClr val="C8A9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1554480"/>
            <a:ext cx="3474720" cy="54864"/>
          </a:xfrm>
          <a:prstGeom prst="rect">
            <a:avLst/>
          </a:prstGeom>
          <a:solidFill>
            <a:srgbClr val="C8A9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169164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C8A956"/>
                </a:solidFill>
                <a:latin typeface="Calibri"/>
              </a:rPr>
              <a:t>OPTION A — RECOMMANDEE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201168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02855"/>
                </a:solidFill>
                <a:latin typeface="Calibri"/>
              </a:rPr>
              <a:t>MARQUE BLANCHE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246888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8A956"/>
                </a:solidFill>
                <a:latin typeface="Calibri"/>
              </a:rPr>
              <a:t>"CUBE, propulse par FAISE"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3017520"/>
            <a:ext cx="31089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C757D"/>
                </a:solidFill>
                <a:latin typeface="Calibri"/>
              </a:rPr>
              <a:t>FAISE apporte: visibilite, legitimite, reseau diaspora
Cabinet Carree: technologie, expertise PME, operations
Avantage: produit a votre nom, sans dev tech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89120" y="1554480"/>
            <a:ext cx="3474720" cy="4572000"/>
          </a:xfrm>
          <a:prstGeom prst="rect">
            <a:avLst/>
          </a:prstGeom>
          <a:solidFill>
            <a:srgbClr val="F8F9FA"/>
          </a:solidFill>
          <a:ln w="12700">
            <a:solidFill>
              <a:srgbClr val="0028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89120" y="1554480"/>
            <a:ext cx="3474720" cy="54864"/>
          </a:xfrm>
          <a:prstGeom prst="rect">
            <a:avLst/>
          </a:prstGeom>
          <a:solidFill>
            <a:srgbClr val="002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0" y="169164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002855"/>
                </a:solidFill>
                <a:latin typeface="Calibri"/>
              </a:rPr>
              <a:t>OPTION 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201168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02855"/>
                </a:solidFill>
                <a:latin typeface="Calibri"/>
              </a:rPr>
              <a:t>CO-BRANDING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246888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8A956"/>
                </a:solidFill>
                <a:latin typeface="Calibri"/>
              </a:rPr>
              <a:t>"FAISE x CUBE | Cabinet Carree"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3017520"/>
            <a:ext cx="31089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C757D"/>
                </a:solidFill>
                <a:latin typeface="Calibri"/>
              </a:rPr>
              <a:t>Partenariat egal, communication conjointe
Gouvernance partagee
Ideal pour phase pilote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138159" y="1554480"/>
            <a:ext cx="3474720" cy="4572000"/>
          </a:xfrm>
          <a:prstGeom prst="rect">
            <a:avLst/>
          </a:prstGeom>
          <a:solidFill>
            <a:srgbClr val="F8F9FA"/>
          </a:solidFill>
          <a:ln w="12700">
            <a:solidFill>
              <a:srgbClr val="0028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138159" y="1554480"/>
            <a:ext cx="3474720" cy="54864"/>
          </a:xfrm>
          <a:prstGeom prst="rect">
            <a:avLst/>
          </a:prstGeom>
          <a:solidFill>
            <a:srgbClr val="002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21039" y="169164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002855"/>
                </a:solidFill>
                <a:latin typeface="Calibri"/>
              </a:rPr>
              <a:t>OPTION C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21039" y="201168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02855"/>
                </a:solidFill>
                <a:latin typeface="Calibri"/>
              </a:rPr>
              <a:t>FONDS DELEGUE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21039" y="246888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8A956"/>
                </a:solidFill>
                <a:latin typeface="Calibri"/>
              </a:rPr>
              <a:t>FAISE delegue 500M FCFA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21039" y="3017520"/>
            <a:ext cx="31089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C757D"/>
                </a:solidFill>
                <a:latin typeface="Calibri"/>
              </a:rPr>
              <a:t>Cabinet deploie via CUBE, rendements revolving
FAISE multiplie son impact
Sans gerer l'operationnel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285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C8A9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002855"/>
                </a:solidFill>
                <a:latin typeface="Calibri"/>
              </a:rPr>
              <a:t>LES CHIFFRES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109728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002855"/>
                </a:solidFill>
                <a:latin typeface="Calibri"/>
              </a:rPr>
              <a:t>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500M FCFA  &gt;  3 000M+ en 3 ans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645920"/>
            <a:ext cx="3474720" cy="2194560"/>
          </a:xfrm>
          <a:prstGeom prst="rect">
            <a:avLst/>
          </a:prstGeom>
          <a:solidFill>
            <a:srgbClr val="0037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2926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C8A956"/>
                </a:solidFill>
                <a:latin typeface="Calibri"/>
              </a:rPr>
              <a:t>500M FCFA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83464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>Fonds FAISE delegues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60520" y="237744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C8A956"/>
                </a:solidFill>
                <a:latin typeface="Calibri"/>
              </a:rPr>
              <a:t>&gt;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80560" y="1645920"/>
            <a:ext cx="3474720" cy="2194560"/>
          </a:xfrm>
          <a:prstGeom prst="rect">
            <a:avLst/>
          </a:prstGeom>
          <a:solidFill>
            <a:srgbClr val="0037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54880" y="1920240"/>
            <a:ext cx="2926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C8A956"/>
                </a:solidFill>
                <a:latin typeface="Calibri"/>
              </a:rPr>
              <a:t>50 lots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0" y="283464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>x 10M FCFA / PME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01000" y="237744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C8A956"/>
                </a:solidFill>
                <a:latin typeface="Calibri"/>
              </a:rPr>
              <a:t>&gt;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321040" y="1645920"/>
            <a:ext cx="3474720" cy="2194560"/>
          </a:xfrm>
          <a:prstGeom prst="rect">
            <a:avLst/>
          </a:prstGeom>
          <a:solidFill>
            <a:srgbClr val="0037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95360" y="1920240"/>
            <a:ext cx="2926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C8A956"/>
                </a:solidFill>
                <a:latin typeface="Calibri"/>
              </a:rPr>
              <a:t>80%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95360" y="283464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>Rendement moyen / 12 mois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4206240"/>
            <a:ext cx="3474720" cy="2194560"/>
          </a:xfrm>
          <a:prstGeom prst="rect">
            <a:avLst/>
          </a:prstGeom>
          <a:solidFill>
            <a:srgbClr val="0037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480560"/>
            <a:ext cx="2926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C8A956"/>
                </a:solidFill>
                <a:latin typeface="Calibri"/>
              </a:rPr>
              <a:t>900M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539496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>Retour brut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60520" y="493776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C8A956"/>
                </a:solidFill>
                <a:latin typeface="Calibri"/>
              </a:rPr>
              <a:t>&gt;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480560" y="4206240"/>
            <a:ext cx="3474720" cy="2194560"/>
          </a:xfrm>
          <a:prstGeom prst="rect">
            <a:avLst/>
          </a:prstGeom>
          <a:solidFill>
            <a:srgbClr val="0037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754880" y="4480560"/>
            <a:ext cx="2926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C8A956"/>
                </a:solidFill>
                <a:latin typeface="Calibri"/>
              </a:rPr>
              <a:t>820M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54880" y="539496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>Retour net FAISE (+64%)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01000" y="493776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C8A956"/>
                </a:solidFill>
                <a:latin typeface="Calibri"/>
              </a:rPr>
              <a:t>&gt;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321040" y="4206240"/>
            <a:ext cx="3474720" cy="2194560"/>
          </a:xfrm>
          <a:prstGeom prst="rect">
            <a:avLst/>
          </a:prstGeom>
          <a:solidFill>
            <a:srgbClr val="0037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595360" y="4480560"/>
            <a:ext cx="2926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C8A956"/>
                </a:solidFill>
                <a:latin typeface="Calibri"/>
              </a:rPr>
              <a:t>3 000M+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95360" y="539496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>Finances cumules en 3 ans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C8A9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7200" y="6601968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002855"/>
                </a:solidFill>
                <a:latin typeface="Calibri"/>
              </a:rPr>
              <a:t>CONFIDENTIEL  |  Cabinet Carree x CUBE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2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0"/>
            <a:ext cx="54864" cy="6035040"/>
          </a:xfrm>
          <a:prstGeom prst="rect">
            <a:avLst/>
          </a:prstGeom>
          <a:solidFill>
            <a:srgbClr val="C8A9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C8A956"/>
                </a:solidFill>
                <a:latin typeface="Calibri"/>
              </a:rPr>
              <a:t>IMPACT A 3 ANS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109728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Calibri"/>
              </a:rPr>
              <a:t>09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02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601968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C8A956"/>
                </a:solidFill>
                <a:latin typeface="Calibri"/>
              </a:rPr>
              <a:t>CONFIDENTIEL  |  Cabinet Carree x CUBE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002855"/>
                </a:solidFill>
                <a:latin typeface="Calibri"/>
              </a:rPr>
              <a:t>Diaspora, PME, tissu industriel — un impact mesurable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1554480"/>
            <a:ext cx="3474720" cy="4572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1554480"/>
            <a:ext cx="3474720" cy="54864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173736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2855"/>
                </a:solidFill>
                <a:latin typeface="Calibri"/>
              </a:rPr>
              <a:t>DIASPORA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286000"/>
            <a:ext cx="29260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12529"/>
                </a:solidFill>
                <a:latin typeface="Calibri"/>
              </a:rPr>
              <a:t>&gt; 500+ investisseurs actifs</a:t>
            </a:r>
          </a:p>
          <a:p>
            <a:pPr algn="l"/>
            <a:r>
              <a:rPr sz="400"/>
              <a:t/>
            </a:r>
          </a:p>
          <a:p>
            <a:pPr algn="l"/>
            <a:r>
              <a:rPr sz="1100" b="0">
                <a:solidFill>
                  <a:srgbClr val="212529"/>
                </a:solidFill>
                <a:latin typeface="Calibri"/>
              </a:rPr>
              <a:t>&gt; 2 Mds FCFA mobilises</a:t>
            </a:r>
          </a:p>
          <a:p>
            <a:pPr algn="l"/>
            <a:r>
              <a:rPr sz="400"/>
              <a:t/>
            </a:r>
          </a:p>
          <a:p>
            <a:pPr algn="l"/>
            <a:r>
              <a:rPr sz="1100" b="0">
                <a:solidFill>
                  <a:srgbClr val="212529"/>
                </a:solidFill>
                <a:latin typeface="Calibri"/>
              </a:rPr>
              <a:t>&gt; Rendements 50-150%</a:t>
            </a:r>
          </a:p>
          <a:p>
            <a:pPr algn="l"/>
            <a:r>
              <a:rPr sz="400"/>
              <a:t/>
            </a:r>
          </a:p>
          <a:p>
            <a:pPr algn="l"/>
            <a:r>
              <a:rPr sz="1100" b="0">
                <a:solidFill>
                  <a:srgbClr val="212529"/>
                </a:solidFill>
                <a:latin typeface="Calibri"/>
              </a:rPr>
              <a:t>&gt; Tracabilite digitale</a:t>
            </a:r>
          </a:p>
          <a:p>
            <a:pPr algn="l"/>
            <a:r>
              <a:rPr sz="400"/>
              <a:t/>
            </a:r>
          </a:p>
          <a:p>
            <a:pPr algn="l"/>
            <a:r>
              <a:rPr sz="1100" b="0">
                <a:solidFill>
                  <a:srgbClr val="212529"/>
                </a:solidFill>
                <a:latin typeface="Calibri"/>
              </a:rPr>
              <a:t>&gt; Sentiment d'impact</a:t>
            </a:r>
          </a:p>
          <a:p>
            <a:pPr algn="l"/>
            <a:r>
              <a:rPr sz="400"/>
              <a:t/>
            </a:r>
          </a:p>
        </p:txBody>
      </p:sp>
      <p:sp>
        <p:nvSpPr>
          <p:cNvPr id="13" name="Rectangle 12"/>
          <p:cNvSpPr/>
          <p:nvPr/>
        </p:nvSpPr>
        <p:spPr>
          <a:xfrm>
            <a:off x="4480560" y="1554480"/>
            <a:ext cx="3474720" cy="4572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80560" y="1554480"/>
            <a:ext cx="3474720" cy="54864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54880" y="173736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2855"/>
                </a:solidFill>
                <a:latin typeface="Calibri"/>
              </a:rPr>
              <a:t>PME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80" y="2286000"/>
            <a:ext cx="29260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12529"/>
                </a:solidFill>
                <a:latin typeface="Calibri"/>
              </a:rPr>
              <a:t>&gt; 100+ PME financees/an</a:t>
            </a:r>
          </a:p>
          <a:p>
            <a:pPr algn="l"/>
            <a:r>
              <a:rPr sz="400"/>
              <a:t/>
            </a:r>
          </a:p>
          <a:p>
            <a:pPr algn="l"/>
            <a:r>
              <a:rPr sz="1100" b="0">
                <a:solidFill>
                  <a:srgbClr val="212529"/>
                </a:solidFill>
                <a:latin typeface="Calibri"/>
              </a:rPr>
              <a:t>&gt; +40% CA moyen</a:t>
            </a:r>
          </a:p>
          <a:p>
            <a:pPr algn="l"/>
            <a:r>
              <a:rPr sz="400"/>
              <a:t/>
            </a:r>
          </a:p>
          <a:p>
            <a:pPr algn="l"/>
            <a:r>
              <a:rPr sz="1100" b="0">
                <a:solidFill>
                  <a:srgbClr val="212529"/>
                </a:solidFill>
                <a:latin typeface="Calibri"/>
              </a:rPr>
              <a:t>&gt; Stock optimise</a:t>
            </a:r>
          </a:p>
          <a:p>
            <a:pPr algn="l"/>
            <a:r>
              <a:rPr sz="400"/>
              <a:t/>
            </a:r>
          </a:p>
          <a:p>
            <a:pPr algn="l"/>
            <a:r>
              <a:rPr sz="1100" b="0">
                <a:solidFill>
                  <a:srgbClr val="212529"/>
                </a:solidFill>
                <a:latin typeface="Calibri"/>
              </a:rPr>
              <a:t>&gt; Formalisation comptable</a:t>
            </a:r>
          </a:p>
          <a:p>
            <a:pPr algn="l"/>
            <a:r>
              <a:rPr sz="400"/>
              <a:t/>
            </a:r>
          </a:p>
          <a:p>
            <a:pPr algn="l"/>
            <a:r>
              <a:rPr sz="1100" b="0">
                <a:solidFill>
                  <a:srgbClr val="212529"/>
                </a:solidFill>
                <a:latin typeface="Calibri"/>
              </a:rPr>
              <a:t>&gt; Preparation bancarisation</a:t>
            </a:r>
          </a:p>
          <a:p>
            <a:pPr algn="l"/>
            <a:r>
              <a:rPr sz="400"/>
              <a:t/>
            </a:r>
          </a:p>
        </p:txBody>
      </p:sp>
      <p:sp>
        <p:nvSpPr>
          <p:cNvPr id="17" name="Rectangle 16"/>
          <p:cNvSpPr/>
          <p:nvPr/>
        </p:nvSpPr>
        <p:spPr>
          <a:xfrm>
            <a:off x="8321040" y="1554480"/>
            <a:ext cx="3474720" cy="4572000"/>
          </a:xfrm>
          <a:prstGeom prst="rect">
            <a:avLst/>
          </a:pr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321040" y="1554480"/>
            <a:ext cx="3474720" cy="54864"/>
          </a:xfrm>
          <a:prstGeom prst="rect">
            <a:avLst/>
          </a:prstGeom>
          <a:solidFill>
            <a:srgbClr val="C8A9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95360" y="173736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2855"/>
                </a:solidFill>
                <a:latin typeface="Calibri"/>
              </a:rPr>
              <a:t>TISSU INDUSTRIEL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95360" y="2286000"/>
            <a:ext cx="29260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12529"/>
                </a:solidFill>
                <a:latin typeface="Calibri"/>
              </a:rPr>
              <a:t>&gt; 3 secteurs pilotes</a:t>
            </a:r>
          </a:p>
          <a:p>
            <a:pPr algn="l"/>
            <a:r>
              <a:rPr sz="400"/>
              <a:t/>
            </a:r>
          </a:p>
          <a:p>
            <a:pPr algn="l"/>
            <a:r>
              <a:rPr sz="1100" b="0">
                <a:solidFill>
                  <a:srgbClr val="212529"/>
                </a:solidFill>
                <a:latin typeface="Calibri"/>
              </a:rPr>
              <a:t>&gt; Expansion UEMOA</a:t>
            </a:r>
          </a:p>
          <a:p>
            <a:pPr algn="l"/>
            <a:r>
              <a:rPr sz="400"/>
              <a:t/>
            </a:r>
          </a:p>
          <a:p>
            <a:pPr algn="l"/>
            <a:r>
              <a:rPr sz="1100" b="0">
                <a:solidFill>
                  <a:srgbClr val="212529"/>
                </a:solidFill>
                <a:latin typeface="Calibri"/>
              </a:rPr>
              <a:t>&gt; Cote d'Ivoire, Mali</a:t>
            </a:r>
          </a:p>
          <a:p>
            <a:pPr algn="l"/>
            <a:r>
              <a:rPr sz="400"/>
              <a:t/>
            </a:r>
          </a:p>
          <a:p>
            <a:pPr algn="l"/>
            <a:r>
              <a:rPr sz="1100" b="0">
                <a:solidFill>
                  <a:srgbClr val="212529"/>
                </a:solidFill>
                <a:latin typeface="Calibri"/>
              </a:rPr>
              <a:t>&gt; Creation emplois</a:t>
            </a:r>
          </a:p>
          <a:p>
            <a:pPr algn="l"/>
            <a:r>
              <a:rPr sz="400"/>
              <a:t/>
            </a:r>
          </a:p>
          <a:p>
            <a:pPr algn="l"/>
            <a:r>
              <a:rPr sz="1100" b="0">
                <a:solidFill>
                  <a:srgbClr val="212529"/>
                </a:solidFill>
                <a:latin typeface="Calibri"/>
              </a:rPr>
              <a:t>&gt; Contribution PSE</a:t>
            </a:r>
          </a:p>
          <a:p>
            <a:pPr algn="l"/>
            <a:r>
              <a:rPr sz="400"/>
              <a:t/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0"/>
          </a:xfrm>
          <a:prstGeom prst="rect">
            <a:avLst/>
          </a:prstGeom>
          <a:solidFill>
            <a:srgbClr val="002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0"/>
            <a:ext cx="54864" cy="6035040"/>
          </a:xfrm>
          <a:prstGeom prst="rect">
            <a:avLst/>
          </a:prstGeom>
          <a:solidFill>
            <a:srgbClr val="C8A9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C8A956"/>
                </a:solidFill>
                <a:latin typeface="Calibri"/>
              </a:rPr>
              <a:t>CALENDRIER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109728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Calibri"/>
              </a:rPr>
              <a:t>10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028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601968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C8A956"/>
                </a:solidFill>
                <a:latin typeface="Calibri"/>
              </a:rPr>
              <a:t>CONFIDENTIEL  |  Cabinet Carree x CUBE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822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002855"/>
                </a:solidFill>
                <a:latin typeface="Calibri"/>
              </a:rPr>
              <a:t>Prochaines etapes — demarrons ensemble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1645920"/>
            <a:ext cx="137160" cy="137160"/>
          </a:xfrm>
          <a:prstGeom prst="rect">
            <a:avLst/>
          </a:prstGeom>
          <a:solidFill>
            <a:srgbClr val="C8A9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16002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C8A956"/>
                </a:solidFill>
                <a:latin typeface="Calibri"/>
              </a:rPr>
              <a:t>Avr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0" y="160020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12529"/>
                </a:solidFill>
                <a:latin typeface="Calibri"/>
              </a:rPr>
              <a:t>Protocole d'accord FAISE x Cabinet Carree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2423160"/>
            <a:ext cx="137160" cy="137160"/>
          </a:xfrm>
          <a:prstGeom prst="rect">
            <a:avLst/>
          </a:prstGeom>
          <a:solidFill>
            <a:srgbClr val="C8A9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23774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C8A956"/>
                </a:solidFill>
                <a:latin typeface="Calibri"/>
              </a:rPr>
              <a:t>Mai 2026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0" y="237744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12529"/>
                </a:solidFill>
                <a:latin typeface="Calibri"/>
              </a:rPr>
              <a:t>Validation cadre juridique + partenaire bancaire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3200400"/>
            <a:ext cx="137160" cy="137160"/>
          </a:xfrm>
          <a:prstGeom prst="rect">
            <a:avLst/>
          </a:prstGeom>
          <a:solidFill>
            <a:srgbClr val="C8A9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31546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C8A956"/>
                </a:solidFill>
                <a:latin typeface="Calibri"/>
              </a:rPr>
              <a:t>Juin 2026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00400" y="315468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12529"/>
                </a:solidFill>
                <a:latin typeface="Calibri"/>
              </a:rPr>
              <a:t>Pilote: 5 PME, 50 investisseurs, 50M FCFA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3977639"/>
            <a:ext cx="137160" cy="137160"/>
          </a:xfrm>
          <a:prstGeom prst="rect">
            <a:avLst/>
          </a:prstGeom>
          <a:solidFill>
            <a:srgbClr val="C8A9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5840" y="3931919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C8A956"/>
                </a:solidFill>
                <a:latin typeface="Calibri"/>
              </a:rPr>
              <a:t>Sept 2026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0" y="3931919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12529"/>
                </a:solidFill>
                <a:latin typeface="Calibri"/>
              </a:rPr>
              <a:t>Bilan pilote + ajustements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4754880"/>
            <a:ext cx="137160" cy="137160"/>
          </a:xfrm>
          <a:prstGeom prst="rect">
            <a:avLst/>
          </a:prstGeom>
          <a:solidFill>
            <a:srgbClr val="C8A9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5840" y="47091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C8A956"/>
                </a:solidFill>
                <a:latin typeface="Calibri"/>
              </a:rPr>
              <a:t>Dec 2026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00400" y="470916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12529"/>
                </a:solidFill>
                <a:latin typeface="Calibri"/>
              </a:rPr>
              <a:t>Lancement officiel — Journee nationale Diaspora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" y="5532120"/>
            <a:ext cx="137160" cy="137160"/>
          </a:xfrm>
          <a:prstGeom prst="rect">
            <a:avLst/>
          </a:prstGeom>
          <a:solidFill>
            <a:srgbClr val="C8A9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54864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C8A956"/>
                </a:solidFill>
                <a:latin typeface="Calibri"/>
              </a:rPr>
              <a:t>2027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200400" y="548640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12529"/>
                </a:solidFill>
                <a:latin typeface="Calibri"/>
              </a:rPr>
              <a:t>Deploiement plein regime + expansion UEMOA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54864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"/>
              <a:t/>
            </a:r>
          </a:p>
          <a:p>
            <a:pPr algn="l"/>
            <a:r>
              <a:rPr sz="1400" b="1">
                <a:solidFill>
                  <a:srgbClr val="002855"/>
                </a:solidFill>
                <a:latin typeface="Calibri"/>
              </a:rPr>
              <a:t>Cabinet Carree</a:t>
            </a:r>
          </a:p>
          <a:p>
            <a:pPr algn="l"/>
            <a:r>
              <a:rPr sz="1200" b="0">
                <a:solidFill>
                  <a:srgbClr val="C8A956"/>
                </a:solidFill>
                <a:latin typeface="Calibri"/>
              </a:rPr>
              <a:t>ccarree.com</a:t>
            </a:r>
          </a:p>
          <a:p>
            <a:pPr algn="l"/>
            <a:r>
              <a:rPr sz="1000" b="0">
                <a:solidFill>
                  <a:srgbClr val="6C757D"/>
                </a:solidFill>
                <a:latin typeface="Calibri"/>
              </a:rPr>
              <a:t>Dakar, VDN lot 67 Bande Verte, Immeuble Bilguiss 4eme etage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
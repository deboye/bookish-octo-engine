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731520"/>
            <a:ext cx="4114800" cy="4114800"/>
          </a:xfrm>
          <a:prstGeom prst="rect">
            <a:avLst/>
          </a:prstGeom>
          <a:solidFill>
            <a:srgbClr val="0A2310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1188720"/>
            <a:ext cx="3200400" cy="3200400"/>
          </a:xfrm>
          <a:prstGeom prst="rect">
            <a:avLst/>
          </a:prstGeom>
          <a:solidFill>
            <a:srgbClr val="0A231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8A956"/>
                </a:solidFill>
                <a:latin typeface="Calibri"/>
              </a:rPr>
              <a:t>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x  FAISE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/>
              <a:t/>
            </a:r>
          </a:p>
          <a:p>
            <a:pPr algn="l"/>
            <a:r>
              <a:rPr sz="1800" b="0">
                <a:solidFill>
                  <a:srgbClr val="C8A956"/>
                </a:solidFill>
                <a:latin typeface="Calibri"/>
              </a:rPr>
              <a:t>Transformer l'epargne de la diaspora</a:t>
            </a:r>
          </a:p>
          <a:p>
            <a:pPr algn="l"/>
            <a:r>
              <a:rPr sz="1800" b="0">
                <a:solidFill>
                  <a:srgbClr val="C8A956"/>
                </a:solidFill>
                <a:latin typeface="Calibri"/>
              </a:rPr>
              <a:t>en moteur de croissance des PME senegalaises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300" b="0">
                <a:solidFill>
                  <a:srgbClr val="90BF93"/>
                </a:solidFill>
                <a:latin typeface="Calibri"/>
              </a:rPr>
              <a:t>Proposition de partenariat strategique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Cabinet Carree  |  ccarree.com  |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01  Cabinet Carree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02  Le Constat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03  Cas Concrets PME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04  La Solution CUBE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05  Flux CUBE 6 etapes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06  Convergence FAISE x CUBE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07  Voies de Partenariat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08  Modele economique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09  Resultats Attendus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10  Next Steps</a:t>
            </a:r>
          </a:p>
          <a:p>
            <a:pPr algn="l"/>
            <a:r>
              <a:rPr sz="40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QUI SOMMES-NOUS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 cabinet ancre dans la realite des PME africaines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137160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70 000+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3383280" cy="137160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77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pays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383280" cy="137160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7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d'experience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Fonde en janvier 2019 a Dakar, Senegal</a:t>
            </a:r>
          </a:p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Conseil strategique, accompagnement TPE/PME, transformation digitale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Programme SENEV : accelerateur international pour PME africaines</a:t>
            </a:r>
          </a:p>
          <a:p>
            <a:pPr algn="l"/>
            <a:r>
              <a:rPr sz="1100" b="1">
                <a:solidFill>
                  <a:srgbClr val="C8A956"/>
                </a:solidFill>
                <a:latin typeface="Calibri"/>
              </a:rPr>
              <a:t>Cas reel : BMR — subvention de 20M FCFA obtenue en 9 mois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4CAF50"/>
                </a:solidFill>
                <a:latin typeface="Calibri"/>
              </a:rPr>
              <a:t>ccarree.com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LE PROBLEME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 potentiel immense, bloque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219456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4864" cy="2194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Rentables mais stock non finance. Taux 12-18%.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A956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du tissu economique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303520" cy="219456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4864" cy="2194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DIASPORA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90% des transferts = consommation. 0 vehicule investissement.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A956"/>
                </a:solidFill>
                <a:latin typeface="Calibri"/>
              </a:rPr>
              <a:t>+200Mds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FCFA/an transferes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303520" cy="219456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54864" cy="2194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BANQUES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Asymetrie info, garanties excessives, processus 3-6 mois.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A956"/>
                </a:solidFill>
                <a:latin typeface="Calibri"/>
              </a:rPr>
              <a:t>12-18%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taux bancaires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23360"/>
            <a:ext cx="5303520" cy="219456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54864" cy="21945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26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5-15M/projet. 643 projets en 15 ans. Insuffisant.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A956"/>
                </a:solidFill>
                <a:latin typeface="Calibri"/>
              </a:rPr>
              <a:t>643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projets / 15 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SUR LE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Trois PME — le probleme en chiffres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Stamipol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AF50"/>
                </a:solidFill>
                <a:latin typeface="Calibri"/>
              </a:rPr>
              <a:t>Cosmetique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8A956"/>
                </a:solidFill>
                <a:latin typeface="Calibri"/>
              </a:rPr>
              <a:t>25M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stock necessaire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Marge 100-150%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297680"/>
            <a:ext cx="2926080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282"/>
                </a:solidFill>
                <a:latin typeface="Calibri"/>
              </a:rPr>
              <a:t>Refus bancaire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Fasha'Style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AF50"/>
                </a:solidFill>
                <a:latin typeface="Calibri"/>
              </a:rPr>
              <a:t>Mode &amp; Textile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8A956"/>
                </a:solidFill>
                <a:latin typeface="Calibri"/>
              </a:rPr>
              <a:t>12M FCFA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stock necessaire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7490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Marge 80-120%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4297680"/>
            <a:ext cx="2926080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282"/>
                </a:solidFill>
                <a:latin typeface="Calibri"/>
              </a:rPr>
              <a:t>2 saisons impossibles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PME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AF50"/>
                </a:solidFill>
                <a:latin typeface="Calibri"/>
              </a:rPr>
              <a:t>Alimentaire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651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8A956"/>
                </a:solidFill>
                <a:latin typeface="Calibri"/>
              </a:rPr>
              <a:t>20M FCFA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stock necessaire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490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Marge 35-45%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297680"/>
            <a:ext cx="2926080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282"/>
                </a:solidFill>
                <a:latin typeface="Calibri"/>
              </a:rPr>
              <a:t>40% CA perdu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LA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CUBE — L'epargne diaspora finance les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956"/>
                </a:solidFill>
                <a:latin typeface="Calibri"/>
              </a:rPr>
              <a:t>Plateforme web de crowdfunding d'actifs</a:t>
            </a:r>
          </a:p>
          <a:p>
            <a:pPr algn="l"/>
            <a:r>
              <a:rPr sz="1200" b="0">
                <a:solidFill>
                  <a:srgbClr val="90BF93"/>
                </a:solidFill>
                <a:latin typeface="Calibri"/>
              </a:rPr>
              <a:t>La diaspora investit directement dans les stocks de PME pre-qualifiees.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Cabinet acquiert le stock &gt; PME revend &gt; Investisseur recupere capital + rendement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1">
                <a:solidFill>
                  <a:srgbClr val="4CAF50"/>
                </a:solidFill>
                <a:latin typeface="Calibri"/>
              </a:rPr>
              <a:t>Garantie triple: stock physique + PME pre-qualifiees + partenaire bancaire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474720" cy="2011680"/>
          </a:xfrm>
          <a:prstGeom prst="rect">
            <a:avLst/>
          </a:prstGeom>
          <a:solidFill>
            <a:srgbClr val="123719"/>
          </a:solidFill>
          <a:ln w="12700">
            <a:solidFill>
              <a:srgbClr val="123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CUBE 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A956"/>
                </a:solidFill>
                <a:latin typeface="Calibri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/ 6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Court terme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114800"/>
            <a:ext cx="3474720" cy="2011680"/>
          </a:xfrm>
          <a:prstGeom prst="rect">
            <a:avLst/>
          </a:prstGeom>
          <a:solidFill>
            <a:srgbClr val="123719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CUBE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480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A956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/ 12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Formule phare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114800"/>
            <a:ext cx="3474720" cy="2011680"/>
          </a:xfrm>
          <a:prstGeom prst="rect">
            <a:avLst/>
          </a:prstGeom>
          <a:solidFill>
            <a:srgbClr val="123719"/>
          </a:solidFill>
          <a:ln w="12700">
            <a:solidFill>
              <a:srgbClr val="123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CUBE Elite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80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A956"/>
                </a:solidFill>
                <a:latin typeface="Calibri"/>
              </a:rPr>
              <a:t>150%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BF93"/>
                </a:solidFill>
                <a:latin typeface="Calibri"/>
              </a:rPr>
              <a:t>/ 18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BF93"/>
                </a:solidFill>
                <a:latin typeface="Calibri"/>
              </a:rPr>
              <a:t>Long terme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LE MECANISME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Simple, transparent, securise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Investisseur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Inscription 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Investissement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Virement/mobile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Fonds en banque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Cabinet achete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PME revend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011680"/>
            <a:ext cx="1737360" cy="27432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98480" y="214884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310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0BF93"/>
                </a:solidFill>
                <a:latin typeface="Calibri"/>
              </a:rPr>
              <a:t>Capital + rendement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SYNERGIE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FAISE + CUBE = Impact demultiplie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463040"/>
            <a:ext cx="2743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81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FAISE seul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CUBE seul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63040"/>
            <a:ext cx="2743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481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310"/>
                </a:solidFill>
                <a:latin typeface="Calibri"/>
              </a:rPr>
              <a:t>FAISE x CUBE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Financement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5-15M FCFA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Illimite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10312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A956"/>
                </a:solidFill>
                <a:latin typeface="Calibri"/>
              </a:rPr>
              <a:t>DECUPLE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Beneficiaires/an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10896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~43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10896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100+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310896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A956"/>
                </a:solidFill>
                <a:latin typeface="Calibri"/>
              </a:rPr>
              <a:t>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Retour fonds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11480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Subvention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11480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50-150%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411480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A956"/>
                </a:solidFill>
                <a:latin typeface="Calibri"/>
              </a:rPr>
              <a:t>Revolving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Tracabilite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12064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Manuelle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12064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F93"/>
                </a:solidFill>
                <a:latin typeface="Calibri"/>
              </a:rPr>
              <a:t>Digitale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5120640"/>
            <a:ext cx="2743200" cy="7315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A956"/>
                </a:solidFill>
                <a:latin typeface="Calibri"/>
              </a:rPr>
              <a:t>Digitale + Etat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956"/>
                </a:solidFill>
                <a:latin typeface="Calibri"/>
              </a:rPr>
              <a:t>"Le FAISE ne peut satisfaire toutes les demandes. CUBE est la reponse."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Trois modalites — selon vos priorites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4572000"/>
          </a:xfrm>
          <a:prstGeom prst="rect">
            <a:avLst/>
          </a:prstGeom>
          <a:solidFill>
            <a:srgbClr val="123719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OPTION A  RECOMMANDEE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MARQUE BLANCHE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956"/>
                </a:solidFill>
                <a:latin typeface="Calibri"/>
              </a:rPr>
              <a:t>"CUBE propulse par FAISE"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FAISE: visibilite, reseau
CC: tech, expertise, 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54480"/>
            <a:ext cx="3474720" cy="4572000"/>
          </a:xfrm>
          <a:prstGeom prst="rect">
            <a:avLst/>
          </a:prstGeom>
          <a:solidFill>
            <a:srgbClr val="12371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Calibri"/>
              </a:rPr>
              <a:t>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CO-BRANDING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956"/>
                </a:solidFill>
                <a:latin typeface="Calibri"/>
              </a:rPr>
              <a:t>"FAISE x CUBE"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Communication conjointe
Gouvernance partagee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54480"/>
            <a:ext cx="3474720" cy="4572000"/>
          </a:xfrm>
          <a:prstGeom prst="rect">
            <a:avLst/>
          </a:prstGeom>
          <a:solidFill>
            <a:srgbClr val="12371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5E20"/>
                </a:solidFill>
                <a:latin typeface="Calibri"/>
              </a:rPr>
              <a:t>OPTION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FONDS DELEGUE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956"/>
                </a:solidFill>
                <a:latin typeface="Calibri"/>
              </a:rPr>
              <a:t>500M FCFA revolving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CC deploie via CUBE
Rendements reversees FAISE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A2310"/>
                </a:solidFill>
                <a:latin typeface="Calibri"/>
              </a:rPr>
              <a:t>LES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A2310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500M  &gt;  3 000M+ en 3 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500M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Fonds delegues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50 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x 10M/PME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4592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Rendement/12m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900M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Retour brut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02336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820M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Net FAISE +64%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023360"/>
            <a:ext cx="3474720" cy="201168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A956"/>
                </a:solidFill>
                <a:latin typeface="Calibri"/>
              </a:rPr>
              <a:t>3000M+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BF93"/>
                </a:solidFill>
                <a:latin typeface="Calibri"/>
              </a:rPr>
              <a:t>Cumule 3 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IMPACT A 3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Diaspora, PME, tissu industriel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  <a:latin typeface="Calibri"/>
              </a:rPr>
              <a:t>DIASPORA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500+ investisseurs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2 Mds FCFA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Rendements 50-150%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Tracabilite digitale</a:t>
            </a:r>
          </a:p>
          <a:p>
            <a:pPr algn="l"/>
            <a:r>
              <a:rPr sz="400"/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554480"/>
            <a:ext cx="347472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  <a:latin typeface="Calibri"/>
              </a:rPr>
              <a:t>PME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100+ financees/an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+40% CA moyen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Stock optimise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Bancarisation</a:t>
            </a:r>
          </a:p>
          <a:p>
            <a:pPr algn="l"/>
            <a:r>
              <a:rPr sz="400"/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554480"/>
            <a:ext cx="3474720" cy="4389120"/>
          </a:xfrm>
          <a:prstGeom prst="rect">
            <a:avLst/>
          </a:prstGeom>
          <a:solidFill>
            <a:srgbClr val="12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554480"/>
            <a:ext cx="3474720" cy="54864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956"/>
                </a:solidFill>
                <a:latin typeface="Calibri"/>
              </a:rPr>
              <a:t>INDUSTRIEL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3 secteurs pilotes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Expansion UEMOA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Creation emplois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&gt; Contribution PSE</a:t>
            </a:r>
          </a:p>
          <a:p>
            <a:pPr algn="l"/>
            <a:r>
              <a:rPr sz="400"/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CALENDRIER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1E4626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0BF93"/>
                </a:solidFill>
                <a:latin typeface="Calibri"/>
              </a:rPr>
              <a:t>CUBE x FAISE  |  Cabinet Carree  | 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Demarrons ensemble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Avr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Protocole d'accord FAISE x Cabinet Carree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Mai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Cadre juridique + partenaire bancaire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Juin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Pilote: 5 PME, 50 investisseurs, 50M FCFA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Sept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Bilan pilote + ajustements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1772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Dec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Lancement officiel — Journee Diaspora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Deploiement + expansion UEMOA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/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Cabinet Carree</a:t>
            </a:r>
          </a:p>
          <a:p>
            <a:pPr algn="l"/>
            <a:r>
              <a:rPr sz="1200" b="0">
                <a:solidFill>
                  <a:srgbClr val="C8A956"/>
                </a:solidFill>
                <a:latin typeface="Calibri"/>
              </a:rPr>
              <a:t>ccarree.com</a:t>
            </a:r>
          </a:p>
          <a:p>
            <a:pPr algn="l"/>
            <a:r>
              <a:rPr sz="1000" b="0">
                <a:solidFill>
                  <a:srgbClr val="90BF93"/>
                </a:solidFill>
                <a:latin typeface="Calibri"/>
              </a:rPr>
              <a:t>Dakar, VDN lot 67 Bande Verte, Immeuble Bilguiss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